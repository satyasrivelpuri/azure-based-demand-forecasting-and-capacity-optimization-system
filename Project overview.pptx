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70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3500"/>
    <a:srgbClr val="7A5A00"/>
    <a:srgbClr val="2A2A2A"/>
    <a:srgbClr val="C8A700"/>
    <a:srgbClr val="828282"/>
    <a:srgbClr val="361B00"/>
    <a:srgbClr val="663300"/>
    <a:srgbClr val="CD7F32"/>
    <a:srgbClr val="975E25"/>
    <a:srgbClr val="9FE0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36013A-3F52-4ADC-BB93-0E7138AEDAA1}" v="47" dt="2025-11-25T05:34:51.450"/>
  </p1510:revLst>
</p1510:revInfo>
</file>

<file path=ppt/tableStyles.xml><?xml version="1.0" encoding="utf-8"?>
<a:tblStyleLst xmlns:a="http://schemas.openxmlformats.org/drawingml/2006/main" def="{5C22544A-7EE6-4342-B048-85BDC9FD1C3A}"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ya sri velpuri" userId="c80f668ffd3db1d4" providerId="LiveId" clId="{B479EBAE-5379-4377-80D1-86FFF691F048}"/>
    <pc:docChg chg="undo custSel modSld">
      <pc:chgData name="Satya sri velpuri" userId="c80f668ffd3db1d4" providerId="LiveId" clId="{B479EBAE-5379-4377-80D1-86FFF691F048}" dt="2025-11-25T05:34:33.797" v="383" actId="14100"/>
      <pc:docMkLst>
        <pc:docMk/>
      </pc:docMkLst>
      <pc:sldChg chg="addSp delSp modSp mod delAnim">
        <pc:chgData name="Satya sri velpuri" userId="c80f668ffd3db1d4" providerId="LiveId" clId="{B479EBAE-5379-4377-80D1-86FFF691F048}" dt="2025-11-25T05:14:04.436" v="377" actId="20577"/>
        <pc:sldMkLst>
          <pc:docMk/>
          <pc:sldMk cId="148372578" sldId="257"/>
        </pc:sldMkLst>
        <pc:spChg chg="mod">
          <ac:chgData name="Satya sri velpuri" userId="c80f668ffd3db1d4" providerId="LiveId" clId="{B479EBAE-5379-4377-80D1-86FFF691F048}" dt="2025-11-25T04:37:44.504" v="1" actId="1076"/>
          <ac:spMkLst>
            <pc:docMk/>
            <pc:sldMk cId="148372578" sldId="257"/>
            <ac:spMk id="2" creationId="{62565567-9C39-F54E-D5BC-DE76150D0197}"/>
          </ac:spMkLst>
        </pc:spChg>
        <pc:spChg chg="mod">
          <ac:chgData name="Satya sri velpuri" userId="c80f668ffd3db1d4" providerId="LiveId" clId="{B479EBAE-5379-4377-80D1-86FFF691F048}" dt="2025-11-25T04:45:06.227" v="3" actId="14100"/>
          <ac:spMkLst>
            <pc:docMk/>
            <pc:sldMk cId="148372578" sldId="257"/>
            <ac:spMk id="3" creationId="{82960B80-59B2-BA1B-8B76-1F59A9CC5EDB}"/>
          </ac:spMkLst>
        </pc:spChg>
        <pc:spChg chg="add del mod">
          <ac:chgData name="Satya sri velpuri" userId="c80f668ffd3db1d4" providerId="LiveId" clId="{B479EBAE-5379-4377-80D1-86FFF691F048}" dt="2025-11-25T04:47:42.631" v="60" actId="21"/>
          <ac:spMkLst>
            <pc:docMk/>
            <pc:sldMk cId="148372578" sldId="257"/>
            <ac:spMk id="7" creationId="{EA9698AE-6F40-F9F3-293D-A47218827D59}"/>
          </ac:spMkLst>
        </pc:spChg>
        <pc:spChg chg="add del mod">
          <ac:chgData name="Satya sri velpuri" userId="c80f668ffd3db1d4" providerId="LiveId" clId="{B479EBAE-5379-4377-80D1-86FFF691F048}" dt="2025-11-25T04:47:42.644" v="62"/>
          <ac:spMkLst>
            <pc:docMk/>
            <pc:sldMk cId="148372578" sldId="257"/>
            <ac:spMk id="8" creationId="{C68D95DA-4204-4E56-32BE-4A36D0EC3CC4}"/>
          </ac:spMkLst>
        </pc:spChg>
        <pc:spChg chg="add mod">
          <ac:chgData name="Satya sri velpuri" userId="c80f668ffd3db1d4" providerId="LiveId" clId="{B479EBAE-5379-4377-80D1-86FFF691F048}" dt="2025-11-25T05:14:04.436" v="377" actId="20577"/>
          <ac:spMkLst>
            <pc:docMk/>
            <pc:sldMk cId="148372578" sldId="257"/>
            <ac:spMk id="10" creationId="{906ECF69-A1EC-646A-BB73-38380F902E54}"/>
          </ac:spMkLst>
        </pc:spChg>
        <pc:graphicFrameChg chg="del mod modGraphic">
          <ac:chgData name="Satya sri velpuri" userId="c80f668ffd3db1d4" providerId="LiveId" clId="{B479EBAE-5379-4377-80D1-86FFF691F048}" dt="2025-11-25T04:46:38.440" v="54" actId="478"/>
          <ac:graphicFrameMkLst>
            <pc:docMk/>
            <pc:sldMk cId="148372578" sldId="257"/>
            <ac:graphicFrameMk id="6" creationId="{564A128A-7258-5BD8-5DF9-6F885B2B8C23}"/>
          </ac:graphicFrameMkLst>
        </pc:graphicFrameChg>
        <pc:graphicFrameChg chg="del modGraphic">
          <ac:chgData name="Satya sri velpuri" userId="c80f668ffd3db1d4" providerId="LiveId" clId="{B479EBAE-5379-4377-80D1-86FFF691F048}" dt="2025-11-25T04:50:38.501" v="140" actId="478"/>
          <ac:graphicFrameMkLst>
            <pc:docMk/>
            <pc:sldMk cId="148372578" sldId="257"/>
            <ac:graphicFrameMk id="9" creationId="{F06911FD-55F8-206F-84E6-BBD385C27345}"/>
          </ac:graphicFrameMkLst>
        </pc:graphicFrameChg>
      </pc:sldChg>
      <pc:sldChg chg="modSp mod">
        <pc:chgData name="Satya sri velpuri" userId="c80f668ffd3db1d4" providerId="LiveId" clId="{B479EBAE-5379-4377-80D1-86FFF691F048}" dt="2025-11-25T05:34:33.797" v="383" actId="14100"/>
        <pc:sldMkLst>
          <pc:docMk/>
          <pc:sldMk cId="3175241430" sldId="258"/>
        </pc:sldMkLst>
        <pc:spChg chg="mod">
          <ac:chgData name="Satya sri velpuri" userId="c80f668ffd3db1d4" providerId="LiveId" clId="{B479EBAE-5379-4377-80D1-86FFF691F048}" dt="2025-11-25T04:57:49.714" v="177" actId="27636"/>
          <ac:spMkLst>
            <pc:docMk/>
            <pc:sldMk cId="3175241430" sldId="258"/>
            <ac:spMk id="3" creationId="{E9440554-815B-4516-BC37-DDD833F4408B}"/>
          </ac:spMkLst>
        </pc:spChg>
        <pc:spChg chg="mod">
          <ac:chgData name="Satya sri velpuri" userId="c80f668ffd3db1d4" providerId="LiveId" clId="{B479EBAE-5379-4377-80D1-86FFF691F048}" dt="2025-11-25T05:34:33.797" v="383" actId="14100"/>
          <ac:spMkLst>
            <pc:docMk/>
            <pc:sldMk cId="3175241430" sldId="258"/>
            <ac:spMk id="5" creationId="{08E3E584-AF71-C83F-4001-C0C97389BC9B}"/>
          </ac:spMkLst>
        </pc:spChg>
      </pc:sldChg>
      <pc:sldChg chg="modSp">
        <pc:chgData name="Satya sri velpuri" userId="c80f668ffd3db1d4" providerId="LiveId" clId="{B479EBAE-5379-4377-80D1-86FFF691F048}" dt="2025-11-25T05:22:08.161" v="378" actId="20577"/>
        <pc:sldMkLst>
          <pc:docMk/>
          <pc:sldMk cId="2797375105" sldId="259"/>
        </pc:sldMkLst>
        <pc:spChg chg="mod">
          <ac:chgData name="Satya sri velpuri" userId="c80f668ffd3db1d4" providerId="LiveId" clId="{B479EBAE-5379-4377-80D1-86FFF691F048}" dt="2025-11-25T05:22:08.161" v="378" actId="20577"/>
          <ac:spMkLst>
            <pc:docMk/>
            <pc:sldMk cId="2797375105" sldId="259"/>
            <ac:spMk id="5" creationId="{B9BF7AD0-0336-23D6-E787-642B11937C26}"/>
          </ac:spMkLst>
        </pc:spChg>
      </pc:sldChg>
      <pc:sldChg chg="modSp modAnim">
        <pc:chgData name="Satya sri velpuri" userId="c80f668ffd3db1d4" providerId="LiveId" clId="{B479EBAE-5379-4377-80D1-86FFF691F048}" dt="2025-11-25T05:07:23.297" v="342"/>
        <pc:sldMkLst>
          <pc:docMk/>
          <pc:sldMk cId="2662962347" sldId="262"/>
        </pc:sldMkLst>
        <pc:spChg chg="mod">
          <ac:chgData name="Satya sri velpuri" userId="c80f668ffd3db1d4" providerId="LiveId" clId="{B479EBAE-5379-4377-80D1-86FFF691F048}" dt="2025-11-25T05:07:23.297" v="342"/>
          <ac:spMkLst>
            <pc:docMk/>
            <pc:sldMk cId="2662962347" sldId="262"/>
            <ac:spMk id="20" creationId="{8127F223-CD30-AF51-005A-CA35C866F23D}"/>
          </ac:spMkLst>
        </pc:spChg>
      </pc:sldChg>
      <pc:sldChg chg="modSp mod">
        <pc:chgData name="Satya sri velpuri" userId="c80f668ffd3db1d4" providerId="LiveId" clId="{B479EBAE-5379-4377-80D1-86FFF691F048}" dt="2025-11-25T05:13:05.056" v="375" actId="1036"/>
        <pc:sldMkLst>
          <pc:docMk/>
          <pc:sldMk cId="2884141059" sldId="265"/>
        </pc:sldMkLst>
        <pc:spChg chg="mod">
          <ac:chgData name="Satya sri velpuri" userId="c80f668ffd3db1d4" providerId="LiveId" clId="{B479EBAE-5379-4377-80D1-86FFF691F048}" dt="2025-11-25T05:11:39.955" v="368" actId="12"/>
          <ac:spMkLst>
            <pc:docMk/>
            <pc:sldMk cId="2884141059" sldId="265"/>
            <ac:spMk id="9" creationId="{6151F165-3D44-7C87-E410-F700043E715B}"/>
          </ac:spMkLst>
        </pc:spChg>
        <pc:picChg chg="mod">
          <ac:chgData name="Satya sri velpuri" userId="c80f668ffd3db1d4" providerId="LiveId" clId="{B479EBAE-5379-4377-80D1-86FFF691F048}" dt="2025-11-25T05:13:05.056" v="375" actId="1036"/>
          <ac:picMkLst>
            <pc:docMk/>
            <pc:sldMk cId="2884141059" sldId="265"/>
            <ac:picMk id="7" creationId="{747216DF-50FF-5B2F-CFDE-F2C8024BBDE8}"/>
          </ac:picMkLst>
        </pc:picChg>
      </pc:sldChg>
      <pc:sldChg chg="modSp mod">
        <pc:chgData name="Satya sri velpuri" userId="c80f668ffd3db1d4" providerId="LiveId" clId="{B479EBAE-5379-4377-80D1-86FFF691F048}" dt="2025-11-25T05:22:28.150" v="382"/>
        <pc:sldMkLst>
          <pc:docMk/>
          <pc:sldMk cId="3817484122" sldId="266"/>
        </pc:sldMkLst>
        <pc:spChg chg="mod">
          <ac:chgData name="Satya sri velpuri" userId="c80f668ffd3db1d4" providerId="LiveId" clId="{B479EBAE-5379-4377-80D1-86FFF691F048}" dt="2025-11-25T05:22:28.150" v="382"/>
          <ac:spMkLst>
            <pc:docMk/>
            <pc:sldMk cId="3817484122" sldId="266"/>
            <ac:spMk id="3" creationId="{7F0071D3-986A-AD76-911B-196D4344FBB6}"/>
          </ac:spMkLst>
        </pc:spChg>
      </pc:sldChg>
      <pc:sldChg chg="delSp modSp mod">
        <pc:chgData name="Satya sri velpuri" userId="c80f668ffd3db1d4" providerId="LiveId" clId="{B479EBAE-5379-4377-80D1-86FFF691F048}" dt="2025-11-25T04:54:12.158" v="160" actId="20577"/>
        <pc:sldMkLst>
          <pc:docMk/>
          <pc:sldMk cId="1782606533" sldId="267"/>
        </pc:sldMkLst>
        <pc:spChg chg="mod">
          <ac:chgData name="Satya sri velpuri" userId="c80f668ffd3db1d4" providerId="LiveId" clId="{B479EBAE-5379-4377-80D1-86FFF691F048}" dt="2025-11-25T04:54:12.158" v="160" actId="20577"/>
          <ac:spMkLst>
            <pc:docMk/>
            <pc:sldMk cId="1782606533" sldId="267"/>
            <ac:spMk id="3" creationId="{A5E9D46D-C5CD-8350-9EFD-5E0E75DBC40C}"/>
          </ac:spMkLst>
        </pc:spChg>
        <pc:picChg chg="del">
          <ac:chgData name="Satya sri velpuri" userId="c80f668ffd3db1d4" providerId="LiveId" clId="{B479EBAE-5379-4377-80D1-86FFF691F048}" dt="2025-11-25T04:54:10.154" v="159" actId="21"/>
          <ac:picMkLst>
            <pc:docMk/>
            <pc:sldMk cId="1782606533" sldId="267"/>
            <ac:picMk id="7" creationId="{ECF86F66-EF68-A644-60D2-20EDA8EE9A4E}"/>
          </ac:picMkLst>
        </pc:picChg>
      </pc:sldChg>
      <pc:sldChg chg="addSp delSp modSp mod">
        <pc:chgData name="Satya sri velpuri" userId="c80f668ffd3db1d4" providerId="LiveId" clId="{B479EBAE-5379-4377-80D1-86FFF691F048}" dt="2025-11-25T05:12:45.024" v="374" actId="1076"/>
        <pc:sldMkLst>
          <pc:docMk/>
          <pc:sldMk cId="3699109600" sldId="270"/>
        </pc:sldMkLst>
        <pc:picChg chg="add mod">
          <ac:chgData name="Satya sri velpuri" userId="c80f668ffd3db1d4" providerId="LiveId" clId="{B479EBAE-5379-4377-80D1-86FFF691F048}" dt="2025-11-25T05:12:31.986" v="369"/>
          <ac:picMkLst>
            <pc:docMk/>
            <pc:sldMk cId="3699109600" sldId="270"/>
            <ac:picMk id="4" creationId="{089FA69A-CC65-37AF-0235-1BF9F338DB5F}"/>
          </ac:picMkLst>
        </pc:picChg>
        <pc:picChg chg="del">
          <ac:chgData name="Satya sri velpuri" userId="c80f668ffd3db1d4" providerId="LiveId" clId="{B479EBAE-5379-4377-80D1-86FFF691F048}" dt="2025-11-25T05:12:36.358" v="370" actId="478"/>
          <ac:picMkLst>
            <pc:docMk/>
            <pc:sldMk cId="3699109600" sldId="270"/>
            <ac:picMk id="5" creationId="{A349A9EC-F1FD-8973-0E91-FF12BDE103DA}"/>
          </ac:picMkLst>
        </pc:picChg>
        <pc:picChg chg="add mod">
          <ac:chgData name="Satya sri velpuri" userId="c80f668ffd3db1d4" providerId="LiveId" clId="{B479EBAE-5379-4377-80D1-86FFF691F048}" dt="2025-11-25T05:12:45.024" v="374" actId="1076"/>
          <ac:picMkLst>
            <pc:docMk/>
            <pc:sldMk cId="3699109600" sldId="270"/>
            <ac:picMk id="7" creationId="{0001A5FF-7748-CD95-12E3-81EA1F8E3BA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50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444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540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884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799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988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367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252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302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367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7971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500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4289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167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2322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84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205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ku.serviciocivil.gov.co/doku.php?id=wiki:azur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00CC8-4435-1134-A8CF-C9A47DFB04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258" y="176981"/>
            <a:ext cx="10255045" cy="1655762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>
                <a:solidFill>
                  <a:srgbClr val="002060"/>
                </a:solidFill>
              </a:rPr>
              <a:t>Azure-Based Demand Forecasting &amp; Capacity Optimization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7C8A8C-AF21-33DF-E6DA-80BBF2197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8697" y="1832743"/>
            <a:ext cx="8475405" cy="723644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~A scalable cloud architecture for predictive analysis and automated capacity planning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6A82B7-DDE3-B7E0-A639-97B629483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000863" y="2446077"/>
            <a:ext cx="6971071" cy="22537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35A7B3-B903-9724-C72A-6CCC75B9C002}"/>
              </a:ext>
            </a:extLst>
          </p:cNvPr>
          <p:cNvSpPr txBox="1"/>
          <p:nvPr/>
        </p:nvSpPr>
        <p:spPr>
          <a:xfrm>
            <a:off x="1101212" y="4473677"/>
            <a:ext cx="80427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dirty="0"/>
              <a:t>This presentation outlines a robust workflow designed for advanced demand forecasting and capacity optimization. We will explore components from diverse data sources to intelligent consumption which ensures a seamless solution encouraging efficiency.</a:t>
            </a:r>
          </a:p>
        </p:txBody>
      </p:sp>
    </p:spTree>
    <p:extLst>
      <p:ext uri="{BB962C8B-B14F-4D97-AF65-F5344CB8AC3E}">
        <p14:creationId xmlns:p14="http://schemas.microsoft.com/office/powerpoint/2010/main" val="38462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65567-9C39-F54E-D5BC-DE76150D0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8258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Diverse 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60B80-59B2-BA1B-8B76-1F59A9CC5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1779640"/>
            <a:ext cx="9066434" cy="729146"/>
          </a:xfrm>
        </p:spPr>
        <p:txBody>
          <a:bodyPr/>
          <a:lstStyle/>
          <a:p>
            <a:r>
              <a:rPr lang="en-US" dirty="0"/>
              <a:t>Our system integrates data from </a:t>
            </a:r>
            <a:r>
              <a:rPr lang="en-US" b="1" dirty="0"/>
              <a:t>three major sources</a:t>
            </a:r>
            <a:r>
              <a:rPr lang="en-US" dirty="0"/>
              <a:t>, giving us both operational and external market visibility.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DBF1E2-EF87-87DE-E24F-9396920EC4EF}"/>
              </a:ext>
            </a:extLst>
          </p:cNvPr>
          <p:cNvSpPr txBox="1"/>
          <p:nvPr/>
        </p:nvSpPr>
        <p:spPr>
          <a:xfrm>
            <a:off x="677334" y="1291711"/>
            <a:ext cx="880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~The foundation of Insight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6ECF69-A1EC-646A-BB73-38380F902E54}"/>
              </a:ext>
            </a:extLst>
          </p:cNvPr>
          <p:cNvSpPr txBox="1"/>
          <p:nvPr/>
        </p:nvSpPr>
        <p:spPr>
          <a:xfrm>
            <a:off x="520019" y="2627382"/>
            <a:ext cx="956787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Snowflake (External Features Dataset):</a:t>
            </a:r>
            <a:br>
              <a:rPr lang="en-US" dirty="0"/>
            </a:br>
            <a:r>
              <a:rPr lang="en-US" dirty="0"/>
              <a:t>From Snowflake, we ingest </a:t>
            </a:r>
            <a:r>
              <a:rPr lang="en-US" b="1" dirty="0"/>
              <a:t>external economic indicators</a:t>
            </a:r>
            <a:r>
              <a:rPr lang="en-US" dirty="0"/>
              <a:t> that directly influence               cloud usage patterns.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Google Cloud Platform (Feature Engineering Dataset):</a:t>
            </a:r>
          </a:p>
          <a:p>
            <a:r>
              <a:rPr lang="en-US" dirty="0"/>
              <a:t>    In GCP, we maintain our </a:t>
            </a:r>
            <a:r>
              <a:rPr lang="en-US" b="1" dirty="0"/>
              <a:t>feature engineering dataset</a:t>
            </a:r>
            <a:r>
              <a:rPr lang="en-US" dirty="0"/>
              <a:t>, containing enriched historical                      usage metrics.This dataset is extremely important because it provides the </a:t>
            </a:r>
            <a:r>
              <a:rPr lang="en-US" b="1" dirty="0"/>
              <a:t>behavioral and technical indicators</a:t>
            </a:r>
            <a:r>
              <a:rPr lang="en-US" dirty="0"/>
              <a:t> needed for forecasting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REST API (Demand Data):</a:t>
            </a:r>
            <a:br>
              <a:rPr lang="en-US" dirty="0"/>
            </a:br>
            <a:r>
              <a:rPr lang="en-US" dirty="0"/>
              <a:t>We also pull fresh demand data through a </a:t>
            </a:r>
            <a:r>
              <a:rPr lang="en-US" b="1" dirty="0"/>
              <a:t>REST API</a:t>
            </a:r>
            <a:r>
              <a:rPr lang="en-US" dirty="0"/>
              <a:t> hosted on Render.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72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Click="0">
        <p:circle/>
      </p:transition>
    </mc:Choice>
    <mc:Fallback xmlns="">
      <p:transition spd="slow" advClick="0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229FC-0B0A-297F-9219-8CDBA6F6B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00626-92B3-BEE1-CA38-F0D0117AE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8258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Efficient Data Ingestion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40554-815B-4516-BC37-DDD833F44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1779640"/>
            <a:ext cx="8889452" cy="816076"/>
          </a:xfrm>
        </p:spPr>
        <p:txBody>
          <a:bodyPr>
            <a:normAutofit lnSpcReduction="10000"/>
          </a:bodyPr>
          <a:lstStyle/>
          <a:p>
            <a:r>
              <a:rPr lang="en-IN" sz="1600" dirty="0">
                <a:solidFill>
                  <a:schemeClr val="tx1"/>
                </a:solidFill>
              </a:rPr>
              <a:t>Azure Data Factory(ADF) acts as the central nervous system for data ingestion by orchestrating secure and scheduled data transfer from disparate sources into the Azure environment.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0BBBA5-7A8B-20AD-2B56-7947740E4CB2}"/>
              </a:ext>
            </a:extLst>
          </p:cNvPr>
          <p:cNvSpPr txBox="1"/>
          <p:nvPr/>
        </p:nvSpPr>
        <p:spPr>
          <a:xfrm>
            <a:off x="677334" y="1179870"/>
            <a:ext cx="4897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2060"/>
                </a:solidFill>
              </a:rPr>
              <a:t>With Azure Data Factory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E3E584-AF71-C83F-4001-C0C97389BC9B}"/>
              </a:ext>
            </a:extLst>
          </p:cNvPr>
          <p:cNvSpPr txBox="1"/>
          <p:nvPr/>
        </p:nvSpPr>
        <p:spPr>
          <a:xfrm>
            <a:off x="677334" y="2428568"/>
            <a:ext cx="820799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ADF connectors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Snowflake Integration</a:t>
            </a:r>
            <a:br>
              <a:rPr lang="en-US" dirty="0"/>
            </a:br>
            <a:r>
              <a:rPr lang="en-US" dirty="0"/>
              <a:t>Uses ADF’s native Snowflake connector with Azure Key Vault for secure credentials. Enables automated ingestion of curated datasets like </a:t>
            </a:r>
            <a:r>
              <a:rPr lang="en-US" i="1" dirty="0"/>
              <a:t>external features</a:t>
            </a:r>
            <a:r>
              <a:rPr lang="en-US" dirty="0"/>
              <a:t> into the pipeline.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GCP Connectivity</a:t>
            </a:r>
            <a:br>
              <a:rPr lang="en-US" dirty="0"/>
            </a:br>
            <a:r>
              <a:rPr lang="en-US" dirty="0"/>
              <a:t>Connects to Google Cloud using ADF’s GCP connectors and REST-based integrations. Supports data pulls from Cloud Storage, Cloud SQL, and feature-engineering datasets efficiently.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REST API Ingestion (Render API)</a:t>
            </a:r>
            <a:br>
              <a:rPr lang="en-US" dirty="0"/>
            </a:br>
            <a:r>
              <a:rPr lang="en-US" dirty="0"/>
              <a:t>Uses ADF’s HTTP Linked Service to call the Render-hosted REST API. Scheduled GET requests bring in operational </a:t>
            </a:r>
            <a:r>
              <a:rPr lang="en-US" i="1" dirty="0"/>
              <a:t>demand data</a:t>
            </a:r>
            <a:r>
              <a:rPr lang="en-US" dirty="0"/>
              <a:t> continuously without manual steps.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175241430"/>
      </p:ext>
    </p:extLst>
  </p:cSld>
  <p:clrMapOvr>
    <a:masterClrMapping/>
  </p:clrMapOvr>
  <p:transition advClick="0">
    <p:circl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21890-323C-69DC-5A48-6B9BB0B92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998A3-B9A9-1C92-BB17-792528163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8258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Efficient Data Ingestion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7631A-1A53-300D-2DF8-BE5BA7C96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1779640"/>
            <a:ext cx="8850124" cy="993058"/>
          </a:xfrm>
        </p:spPr>
        <p:txBody>
          <a:bodyPr>
            <a:normAutofit/>
          </a:bodyPr>
          <a:lstStyle/>
          <a:p>
            <a:r>
              <a:rPr lang="en-IN" sz="1900" dirty="0">
                <a:solidFill>
                  <a:schemeClr val="tx1"/>
                </a:solidFill>
              </a:rPr>
              <a:t>Azure Data Factory(ADF) acts as the central nervous system for data ingestion by orchestrating secure and scheduled data transfer from disparate sources into the Azure environment.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7CA994-C9CA-BA29-97BC-783EE8C76FDF}"/>
              </a:ext>
            </a:extLst>
          </p:cNvPr>
          <p:cNvSpPr txBox="1"/>
          <p:nvPr/>
        </p:nvSpPr>
        <p:spPr>
          <a:xfrm>
            <a:off x="677334" y="1179870"/>
            <a:ext cx="4897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2060"/>
                </a:solidFill>
              </a:rPr>
              <a:t>With Azure Data Factory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BF7AD0-0336-23D6-E787-642B11937C26}"/>
              </a:ext>
            </a:extLst>
          </p:cNvPr>
          <p:cNvSpPr txBox="1"/>
          <p:nvPr/>
        </p:nvSpPr>
        <p:spPr>
          <a:xfrm>
            <a:off x="766916" y="2684207"/>
            <a:ext cx="8760543" cy="3575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Ingestion Steps</a:t>
            </a:r>
          </a:p>
          <a:p>
            <a:pPr marL="396000" indent="-342900">
              <a:spcBef>
                <a:spcPts val="4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000" i="1" dirty="0"/>
              <a:t>Scheduled Pipelines</a:t>
            </a:r>
            <a:r>
              <a:rPr lang="en-IN" sz="2000" dirty="0"/>
              <a:t>: Configured for hourly, daily or real-time ingestion based on data critically.</a:t>
            </a:r>
            <a:endParaRPr lang="en-IN" sz="2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000" i="1" dirty="0"/>
              <a:t>Incremental Extraction</a:t>
            </a:r>
            <a:r>
              <a:rPr lang="en-IN" sz="2000" dirty="0"/>
              <a:t>: Efficiently extracts new and incremental data to minimize processing overhead.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000" i="1" dirty="0"/>
              <a:t>Raw Data Landing</a:t>
            </a:r>
            <a:r>
              <a:rPr lang="en-IN" sz="2000" dirty="0"/>
              <a:t>: Lands all raw ingested data directly into the azure Data Lake Storage(ADLS) Bronze layer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sz="2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2797375105"/>
      </p:ext>
    </p:extLst>
  </p:cSld>
  <p:clrMapOvr>
    <a:masterClrMapping/>
  </p:clrMapOvr>
  <p:transition advClick="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B04BA-34B8-07C9-E5F2-B0BFD233A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68C5B-FD67-A91B-F500-117528D7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8258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Azure Data Lake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99B56-F208-4716-F0A4-914C3D6D9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1779640"/>
            <a:ext cx="8850124" cy="993058"/>
          </a:xfrm>
        </p:spPr>
        <p:txBody>
          <a:bodyPr>
            <a:normAutofit/>
          </a:bodyPr>
          <a:lstStyle/>
          <a:p>
            <a:r>
              <a:rPr lang="en-IN" sz="1900" dirty="0">
                <a:solidFill>
                  <a:schemeClr val="tx1"/>
                </a:solidFill>
              </a:rPr>
              <a:t>Azure Data Lake Storage(ADLS) provides a scalable and secure foundation for our data, organized into distinct layers to support progressive data refinement.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BCF9F2-8F36-3A43-6F20-D17CF63D84EA}"/>
              </a:ext>
            </a:extLst>
          </p:cNvPr>
          <p:cNvSpPr txBox="1"/>
          <p:nvPr/>
        </p:nvSpPr>
        <p:spPr>
          <a:xfrm>
            <a:off x="677334" y="1179870"/>
            <a:ext cx="4897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>
                    <a:lumMod val="50000"/>
                  </a:schemeClr>
                </a:solidFill>
              </a:rPr>
              <a:t>~Structured Data lake Storage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DECAC1-0CE3-F46F-2705-9BFDA6D372F7}"/>
              </a:ext>
            </a:extLst>
          </p:cNvPr>
          <p:cNvSpPr txBox="1"/>
          <p:nvPr/>
        </p:nvSpPr>
        <p:spPr>
          <a:xfrm>
            <a:off x="766916" y="2684207"/>
            <a:ext cx="8760543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endParaRPr lang="en-IN" sz="2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IN" sz="19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9854D7-F65E-B91F-A46A-2C64E07771C0}"/>
              </a:ext>
            </a:extLst>
          </p:cNvPr>
          <p:cNvSpPr/>
          <p:nvPr/>
        </p:nvSpPr>
        <p:spPr>
          <a:xfrm>
            <a:off x="1160206" y="2972358"/>
            <a:ext cx="7157884" cy="3024862"/>
          </a:xfrm>
          <a:prstGeom prst="roundRect">
            <a:avLst>
              <a:gd name="adj" fmla="val 6605"/>
            </a:avLst>
          </a:prstGeom>
          <a:gradFill flip="none" rotWithShape="1">
            <a:gsLst>
              <a:gs pos="0">
                <a:srgbClr val="663300">
                  <a:tint val="66000"/>
                  <a:satMod val="160000"/>
                </a:srgbClr>
              </a:gs>
              <a:gs pos="50000">
                <a:srgbClr val="663300">
                  <a:tint val="44500"/>
                  <a:satMod val="160000"/>
                </a:srgbClr>
              </a:gs>
              <a:gs pos="100000">
                <a:srgbClr val="66330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1F4271-40D6-5D2A-0817-A50707E6F9D9}"/>
              </a:ext>
            </a:extLst>
          </p:cNvPr>
          <p:cNvSpPr/>
          <p:nvPr/>
        </p:nvSpPr>
        <p:spPr>
          <a:xfrm>
            <a:off x="1160206" y="2972358"/>
            <a:ext cx="344130" cy="3024861"/>
          </a:xfrm>
          <a:prstGeom prst="roundRect">
            <a:avLst>
              <a:gd name="adj" fmla="val 24286"/>
            </a:avLst>
          </a:prstGeom>
          <a:solidFill>
            <a:srgbClr val="663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06BB47-8E4F-6A62-9F1F-E3BCE1E8B928}"/>
              </a:ext>
            </a:extLst>
          </p:cNvPr>
          <p:cNvSpPr txBox="1"/>
          <p:nvPr/>
        </p:nvSpPr>
        <p:spPr>
          <a:xfrm>
            <a:off x="1593916" y="3185651"/>
            <a:ext cx="6547193" cy="2685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IN" sz="2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Bronze</a:t>
            </a:r>
            <a:r>
              <a:rPr lang="en-IN" sz="2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Layer</a:t>
            </a:r>
          </a:p>
          <a:p>
            <a:pPr>
              <a:spcBef>
                <a:spcPts val="1200"/>
              </a:spcBef>
            </a:pPr>
            <a:r>
              <a:rPr lang="en-I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</a:t>
            </a:r>
            <a:r>
              <a:rPr lang="en-IN" sz="2100" dirty="0">
                <a:solidFill>
                  <a:srgbClr val="361B00"/>
                </a:solidFill>
              </a:rPr>
              <a:t>Raw, immutable ingested data(JSON, CSV, Parquet). The initial landing zone for all of the incoming information. Data is stored is preserved with full fidelity for reprocessing, auditing and also it’s traceability.</a:t>
            </a:r>
          </a:p>
          <a:p>
            <a:pPr>
              <a:spcBef>
                <a:spcPts val="1200"/>
              </a:spcBef>
            </a:pPr>
            <a:endParaRPr lang="en-IN" sz="2050" dirty="0">
              <a:solidFill>
                <a:srgbClr val="361B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268699"/>
      </p:ext>
    </p:extLst>
  </p:cSld>
  <p:clrMapOvr>
    <a:masterClrMapping/>
  </p:clrMapOvr>
  <p:transition advClick="0">
    <p:circl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4631F-B620-2F5D-868F-F4DA282D9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6A559-E182-AC46-A857-DDE887BA3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8258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Azure Data Lake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772FA-62D5-E51F-AFEA-D16DE1C18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1779640"/>
            <a:ext cx="8850124" cy="993058"/>
          </a:xfrm>
        </p:spPr>
        <p:txBody>
          <a:bodyPr>
            <a:normAutofit/>
          </a:bodyPr>
          <a:lstStyle/>
          <a:p>
            <a:r>
              <a:rPr lang="en-IN" sz="1900" dirty="0">
                <a:solidFill>
                  <a:schemeClr val="tx1"/>
                </a:solidFill>
              </a:rPr>
              <a:t>Azure Data Lake Storage(ADLS) provides a scalable and secure foundation for our data, organized into distinct layers to support progressive data refinement.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E4BD57-BFBA-C272-4EAB-EFEC0F917BAF}"/>
              </a:ext>
            </a:extLst>
          </p:cNvPr>
          <p:cNvSpPr txBox="1"/>
          <p:nvPr/>
        </p:nvSpPr>
        <p:spPr>
          <a:xfrm>
            <a:off x="677334" y="1179870"/>
            <a:ext cx="4897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>
                    <a:lumMod val="50000"/>
                  </a:schemeClr>
                </a:solidFill>
              </a:rPr>
              <a:t>~Structured Data lake Storage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CE7EC0-791C-51C7-67A8-587ACC8B41BB}"/>
              </a:ext>
            </a:extLst>
          </p:cNvPr>
          <p:cNvSpPr txBox="1"/>
          <p:nvPr/>
        </p:nvSpPr>
        <p:spPr>
          <a:xfrm>
            <a:off x="766916" y="2684207"/>
            <a:ext cx="8760543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endParaRPr lang="en-IN" sz="2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IN" sz="19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09588BF-B201-3EB8-5B2A-D7A6561F722C}"/>
              </a:ext>
            </a:extLst>
          </p:cNvPr>
          <p:cNvSpPr/>
          <p:nvPr/>
        </p:nvSpPr>
        <p:spPr>
          <a:xfrm>
            <a:off x="1676400" y="2972358"/>
            <a:ext cx="7157884" cy="3024862"/>
          </a:xfrm>
          <a:prstGeom prst="roundRect">
            <a:avLst>
              <a:gd name="adj" fmla="val 6605"/>
            </a:avLst>
          </a:prstGeom>
          <a:gradFill flip="none" rotWithShape="1">
            <a:gsLst>
              <a:gs pos="0">
                <a:schemeClr val="bg2">
                  <a:lumMod val="50000"/>
                  <a:tint val="66000"/>
                  <a:satMod val="160000"/>
                </a:schemeClr>
              </a:gs>
              <a:gs pos="50000">
                <a:schemeClr val="bg2">
                  <a:lumMod val="50000"/>
                  <a:tint val="44500"/>
                  <a:satMod val="160000"/>
                </a:schemeClr>
              </a:gs>
              <a:gs pos="100000">
                <a:schemeClr val="bg2">
                  <a:lumMod val="50000"/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A74CFBE-38AF-9294-9C8D-55FF7D4BD0E8}"/>
              </a:ext>
            </a:extLst>
          </p:cNvPr>
          <p:cNvSpPr/>
          <p:nvPr/>
        </p:nvSpPr>
        <p:spPr>
          <a:xfrm>
            <a:off x="1676400" y="2972359"/>
            <a:ext cx="344130" cy="3024861"/>
          </a:xfrm>
          <a:prstGeom prst="roundRect">
            <a:avLst>
              <a:gd name="adj" fmla="val 24286"/>
            </a:avLst>
          </a:prstGeom>
          <a:solidFill>
            <a:srgbClr val="8282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190872-D8B3-B41D-9ED1-7CD1FB1B8BAA}"/>
              </a:ext>
            </a:extLst>
          </p:cNvPr>
          <p:cNvSpPr txBox="1"/>
          <p:nvPr/>
        </p:nvSpPr>
        <p:spPr>
          <a:xfrm>
            <a:off x="2110111" y="3254480"/>
            <a:ext cx="662093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IN" sz="2200" u="sng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Silver</a:t>
            </a:r>
            <a:r>
              <a:rPr lang="en-IN" sz="2200" b="1" u="sng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200" u="sng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Layer</a:t>
            </a:r>
          </a:p>
          <a:p>
            <a:pPr>
              <a:spcBef>
                <a:spcPts val="1200"/>
              </a:spcBef>
            </a:pPr>
            <a:r>
              <a:rPr lang="en-I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IN" sz="2100" dirty="0">
                <a:solidFill>
                  <a:srgbClr val="2A2A2A"/>
                </a:solidFill>
              </a:rPr>
              <a:t>Cleaned, filtered, deduplicated and structured data is ready for basic analysis. Standardized schemas and enriched fields are applied to ensure consistency across all downstream analytical processes</a:t>
            </a:r>
            <a:r>
              <a:rPr lang="en-IN" sz="2050" dirty="0">
                <a:solidFill>
                  <a:srgbClr val="2A2A2A"/>
                </a:solidFill>
              </a:rPr>
              <a:t>.</a:t>
            </a:r>
            <a:endParaRPr lang="en-IN" sz="2100" dirty="0">
              <a:solidFill>
                <a:srgbClr val="2A2A2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443761"/>
      </p:ext>
    </p:extLst>
  </p:cSld>
  <p:clrMapOvr>
    <a:masterClrMapping/>
  </p:clrMapOvr>
  <p:transition advClick="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7" grpId="0" animBg="1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40BEE-C617-2419-A080-31B26C183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3EB83-10F6-ADA4-13E5-6AFF7710C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8258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Azure Data Lake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50B47-07B6-7415-FCD7-D47D09EF8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1779640"/>
            <a:ext cx="8850124" cy="993058"/>
          </a:xfrm>
        </p:spPr>
        <p:txBody>
          <a:bodyPr>
            <a:normAutofit/>
          </a:bodyPr>
          <a:lstStyle/>
          <a:p>
            <a:r>
              <a:rPr lang="en-IN" sz="1900" dirty="0">
                <a:solidFill>
                  <a:schemeClr val="tx1"/>
                </a:solidFill>
              </a:rPr>
              <a:t>Azure Data Lake Storage(ADLS) provides a scalable and secure foundation for our data, organized into distinct layers to support progressive data refinement.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111EF7-86D4-E996-0AF6-99448E1F5242}"/>
              </a:ext>
            </a:extLst>
          </p:cNvPr>
          <p:cNvSpPr txBox="1"/>
          <p:nvPr/>
        </p:nvSpPr>
        <p:spPr>
          <a:xfrm>
            <a:off x="677334" y="1179870"/>
            <a:ext cx="4897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>
                    <a:lumMod val="50000"/>
                  </a:schemeClr>
                </a:solidFill>
              </a:rPr>
              <a:t>~Structured Data lake Storage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9E898B-7854-4887-C725-1E91FE003DCE}"/>
              </a:ext>
            </a:extLst>
          </p:cNvPr>
          <p:cNvSpPr txBox="1"/>
          <p:nvPr/>
        </p:nvSpPr>
        <p:spPr>
          <a:xfrm>
            <a:off x="766916" y="2684207"/>
            <a:ext cx="8760543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endParaRPr lang="en-IN" sz="2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IN" sz="19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B371FF3-0D32-2D5E-1287-4FB80F6AB8A9}"/>
              </a:ext>
            </a:extLst>
          </p:cNvPr>
          <p:cNvSpPr/>
          <p:nvPr/>
        </p:nvSpPr>
        <p:spPr>
          <a:xfrm>
            <a:off x="2110111" y="2972358"/>
            <a:ext cx="7157884" cy="3024862"/>
          </a:xfrm>
          <a:prstGeom prst="roundRect">
            <a:avLst>
              <a:gd name="adj" fmla="val 6605"/>
            </a:avLst>
          </a:prstGeom>
          <a:gradFill flip="none" rotWithShape="1">
            <a:gsLst>
              <a:gs pos="0">
                <a:srgbClr val="C8A700">
                  <a:tint val="66000"/>
                  <a:satMod val="160000"/>
                </a:srgbClr>
              </a:gs>
              <a:gs pos="50000">
                <a:srgbClr val="C8A700">
                  <a:tint val="44500"/>
                  <a:satMod val="160000"/>
                </a:srgbClr>
              </a:gs>
              <a:gs pos="100000">
                <a:srgbClr val="C8A70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AC5FC6B-0B49-49F5-5EDE-34F0C5734722}"/>
              </a:ext>
            </a:extLst>
          </p:cNvPr>
          <p:cNvSpPr/>
          <p:nvPr/>
        </p:nvSpPr>
        <p:spPr>
          <a:xfrm>
            <a:off x="2065866" y="2972358"/>
            <a:ext cx="344130" cy="3024861"/>
          </a:xfrm>
          <a:prstGeom prst="roundRect">
            <a:avLst>
              <a:gd name="adj" fmla="val 24286"/>
            </a:avLst>
          </a:prstGeom>
          <a:solidFill>
            <a:srgbClr val="C8A7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27F223-CD30-AF51-005A-CA35C866F23D}"/>
              </a:ext>
            </a:extLst>
          </p:cNvPr>
          <p:cNvSpPr txBox="1"/>
          <p:nvPr/>
        </p:nvSpPr>
        <p:spPr>
          <a:xfrm>
            <a:off x="2499577" y="3254480"/>
            <a:ext cx="658542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IN" sz="2200" u="sng" dirty="0">
                <a:solidFill>
                  <a:srgbClr val="7A5A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Gold Layer</a:t>
            </a:r>
          </a:p>
          <a:p>
            <a:pPr>
              <a:spcBef>
                <a:spcPts val="1200"/>
              </a:spcBef>
            </a:pPr>
            <a:r>
              <a:rPr lang="en-I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IN" sz="2100" dirty="0">
                <a:solidFill>
                  <a:srgbClr val="483500"/>
                </a:solidFill>
              </a:rPr>
              <a:t>Aggregated, ML-ready curated datasets. Optimized for consumption by analytics and machine learning models. Designed to deliver high-value, business-ready insights with optimized forecasting and analytics.</a:t>
            </a:r>
          </a:p>
        </p:txBody>
      </p:sp>
    </p:spTree>
    <p:extLst>
      <p:ext uri="{BB962C8B-B14F-4D97-AF65-F5344CB8AC3E}">
        <p14:creationId xmlns:p14="http://schemas.microsoft.com/office/powerpoint/2010/main" val="2662962347"/>
      </p:ext>
    </p:extLst>
  </p:cSld>
  <p:clrMapOvr>
    <a:masterClrMapping/>
  </p:clrMapOvr>
  <p:transition advClick="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7" grpId="0" animBg="1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344E5-E400-03F3-DADB-493554924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27DB0-3A9D-DAF3-D26B-5CA748D83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8258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Azure Data Lake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14142-13F1-E423-7DD9-4326B001A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1779640"/>
            <a:ext cx="8850124" cy="993058"/>
          </a:xfrm>
        </p:spPr>
        <p:txBody>
          <a:bodyPr>
            <a:normAutofit/>
          </a:bodyPr>
          <a:lstStyle/>
          <a:p>
            <a:r>
              <a:rPr lang="en-IN" sz="1900" dirty="0">
                <a:solidFill>
                  <a:schemeClr val="tx1"/>
                </a:solidFill>
              </a:rPr>
              <a:t>Azure Data Lake Storage(ADLS) provides a scalable and secure foundation for our data, organized into distinct layers to support progressive data refinement.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BB5E97-EC98-190F-FE1E-D852C1E24214}"/>
              </a:ext>
            </a:extLst>
          </p:cNvPr>
          <p:cNvSpPr txBox="1"/>
          <p:nvPr/>
        </p:nvSpPr>
        <p:spPr>
          <a:xfrm>
            <a:off x="677334" y="1179870"/>
            <a:ext cx="4897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>
                    <a:lumMod val="50000"/>
                  </a:schemeClr>
                </a:solidFill>
              </a:rPr>
              <a:t>~Structured Data lake Storage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9EF7A5-8FC2-20A5-FA89-924C80C875E4}"/>
              </a:ext>
            </a:extLst>
          </p:cNvPr>
          <p:cNvSpPr/>
          <p:nvPr/>
        </p:nvSpPr>
        <p:spPr>
          <a:xfrm>
            <a:off x="766916" y="3254480"/>
            <a:ext cx="2449324" cy="1491924"/>
          </a:xfrm>
          <a:prstGeom prst="roundRect">
            <a:avLst>
              <a:gd name="adj" fmla="val 6605"/>
            </a:avLst>
          </a:prstGeom>
          <a:gradFill flip="none" rotWithShape="1">
            <a:gsLst>
              <a:gs pos="0">
                <a:srgbClr val="663300">
                  <a:tint val="66000"/>
                  <a:satMod val="160000"/>
                </a:srgbClr>
              </a:gs>
              <a:gs pos="50000">
                <a:srgbClr val="663300">
                  <a:tint val="44500"/>
                  <a:satMod val="160000"/>
                </a:srgbClr>
              </a:gs>
              <a:gs pos="100000">
                <a:srgbClr val="66330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072A59F-FEF0-0C6B-2B02-CDDEF6522A3C}"/>
              </a:ext>
            </a:extLst>
          </p:cNvPr>
          <p:cNvSpPr/>
          <p:nvPr/>
        </p:nvSpPr>
        <p:spPr>
          <a:xfrm>
            <a:off x="3922525" y="3261967"/>
            <a:ext cx="2449324" cy="1476950"/>
          </a:xfrm>
          <a:prstGeom prst="roundRect">
            <a:avLst>
              <a:gd name="adj" fmla="val 6605"/>
            </a:avLst>
          </a:prstGeom>
          <a:gradFill flip="none" rotWithShape="1">
            <a:gsLst>
              <a:gs pos="0">
                <a:schemeClr val="bg2">
                  <a:lumMod val="50000"/>
                  <a:tint val="66000"/>
                  <a:satMod val="160000"/>
                </a:schemeClr>
              </a:gs>
              <a:gs pos="50000">
                <a:schemeClr val="bg2">
                  <a:lumMod val="50000"/>
                  <a:tint val="44500"/>
                  <a:satMod val="160000"/>
                </a:schemeClr>
              </a:gs>
              <a:gs pos="100000">
                <a:schemeClr val="bg2">
                  <a:lumMod val="50000"/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3DA6CBB-2E04-1061-801F-C3B57987A18A}"/>
              </a:ext>
            </a:extLst>
          </p:cNvPr>
          <p:cNvSpPr/>
          <p:nvPr/>
        </p:nvSpPr>
        <p:spPr>
          <a:xfrm>
            <a:off x="7078135" y="3261967"/>
            <a:ext cx="2449324" cy="1491924"/>
          </a:xfrm>
          <a:prstGeom prst="roundRect">
            <a:avLst>
              <a:gd name="adj" fmla="val 6605"/>
            </a:avLst>
          </a:prstGeom>
          <a:gradFill flip="none" rotWithShape="1">
            <a:gsLst>
              <a:gs pos="0">
                <a:srgbClr val="C8A700">
                  <a:tint val="66000"/>
                  <a:satMod val="160000"/>
                </a:srgbClr>
              </a:gs>
              <a:gs pos="50000">
                <a:srgbClr val="C8A700">
                  <a:tint val="44500"/>
                  <a:satMod val="160000"/>
                </a:srgbClr>
              </a:gs>
              <a:gs pos="100000">
                <a:srgbClr val="C8A70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189114-4857-9548-9C8C-6595E4B0FAE6}"/>
              </a:ext>
            </a:extLst>
          </p:cNvPr>
          <p:cNvSpPr txBox="1"/>
          <p:nvPr/>
        </p:nvSpPr>
        <p:spPr>
          <a:xfrm>
            <a:off x="766915" y="3677265"/>
            <a:ext cx="244932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IN" sz="2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Bronze Layer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E3285A-309B-03AD-E4E9-90B18B0833B6}"/>
              </a:ext>
            </a:extLst>
          </p:cNvPr>
          <p:cNvSpPr txBox="1"/>
          <p:nvPr/>
        </p:nvSpPr>
        <p:spPr>
          <a:xfrm>
            <a:off x="3922523" y="3677265"/>
            <a:ext cx="2989553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IN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Silver</a:t>
            </a:r>
            <a:r>
              <a:rPr lang="en-IN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Layer</a:t>
            </a:r>
          </a:p>
          <a:p>
            <a:endParaRPr lang="en-IN" sz="25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7E1791-6229-5791-63A6-AC3502988C89}"/>
              </a:ext>
            </a:extLst>
          </p:cNvPr>
          <p:cNvSpPr txBox="1"/>
          <p:nvPr/>
        </p:nvSpPr>
        <p:spPr>
          <a:xfrm>
            <a:off x="7078133" y="3677265"/>
            <a:ext cx="261647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IN" sz="2500" dirty="0">
                <a:solidFill>
                  <a:srgbClr val="7A5A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en-IN" sz="2700" dirty="0">
                <a:solidFill>
                  <a:srgbClr val="7A5A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Gold Layer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9694AC7-0056-1B1A-93F7-8B612C632A97}"/>
              </a:ext>
            </a:extLst>
          </p:cNvPr>
          <p:cNvCxnSpPr>
            <a:stCxn id="11" idx="3"/>
          </p:cNvCxnSpPr>
          <p:nvPr/>
        </p:nvCxnSpPr>
        <p:spPr>
          <a:xfrm flipV="1">
            <a:off x="3216237" y="3913238"/>
            <a:ext cx="720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D2E17DA-8CD8-DEFE-1FA2-032BF69E57FD}"/>
              </a:ext>
            </a:extLst>
          </p:cNvPr>
          <p:cNvCxnSpPr>
            <a:endCxn id="13" idx="1"/>
          </p:cNvCxnSpPr>
          <p:nvPr/>
        </p:nvCxnSpPr>
        <p:spPr>
          <a:xfrm flipV="1">
            <a:off x="6371849" y="3931181"/>
            <a:ext cx="70628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ABF3242-6473-2EB7-05B7-3330253E706F}"/>
              </a:ext>
            </a:extLst>
          </p:cNvPr>
          <p:cNvSpPr txBox="1"/>
          <p:nvPr/>
        </p:nvSpPr>
        <p:spPr>
          <a:xfrm>
            <a:off x="2644877" y="5004619"/>
            <a:ext cx="4680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Medallion Architecture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999D33-D03C-94FD-F846-3C09AEFC1B7C}"/>
              </a:ext>
            </a:extLst>
          </p:cNvPr>
          <p:cNvSpPr txBox="1"/>
          <p:nvPr/>
        </p:nvSpPr>
        <p:spPr>
          <a:xfrm>
            <a:off x="766915" y="5558439"/>
            <a:ext cx="788547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9FE0F5"/>
              </a:buClr>
              <a:buSzPct val="80000"/>
              <a:buFont typeface="Wingdings 3" panose="05040102010807070707" pitchFamily="18" charset="2"/>
              <a:buChar char=""/>
            </a:pPr>
            <a:r>
              <a:rPr lang="en-IN" sz="1900" dirty="0"/>
              <a:t>ADF automatically writes ingested data into ADLS, partitioned by the date, source and type with metadata captured for governance.</a:t>
            </a:r>
          </a:p>
        </p:txBody>
      </p:sp>
    </p:spTree>
    <p:extLst>
      <p:ext uri="{BB962C8B-B14F-4D97-AF65-F5344CB8AC3E}">
        <p14:creationId xmlns:p14="http://schemas.microsoft.com/office/powerpoint/2010/main" val="284572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circle/>
      </p:transition>
    </mc:Choice>
    <mc:Fallback xmlns="">
      <p:transition advClick="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1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4C366-12C3-3522-2D1F-409C82A7E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AF7C7-3F8B-5A69-D93C-7C28F836D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8258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Intelligent 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FCA3E-F0EF-A883-2A39-D1DC272BA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61652"/>
            <a:ext cx="8850125" cy="1022555"/>
          </a:xfrm>
        </p:spPr>
        <p:txBody>
          <a:bodyPr>
            <a:normAutofit/>
          </a:bodyPr>
          <a:lstStyle/>
          <a:p>
            <a:r>
              <a:rPr lang="en-IN" sz="1900" dirty="0">
                <a:solidFill>
                  <a:schemeClr val="tx1"/>
                </a:solidFill>
              </a:rPr>
              <a:t>Azure databricks is the powerhouse for transforming raw data into actionable insights by utilizing powerful PySpark/SQL notebooks and Delta Live Tables.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D2ACAC-B5ED-115D-D67F-5D8D3A49167E}"/>
              </a:ext>
            </a:extLst>
          </p:cNvPr>
          <p:cNvSpPr txBox="1"/>
          <p:nvPr/>
        </p:nvSpPr>
        <p:spPr>
          <a:xfrm>
            <a:off x="677334" y="1179870"/>
            <a:ext cx="4897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2060"/>
                </a:solidFill>
              </a:rPr>
              <a:t>With Azure Databricks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7216DF-50FF-5B2F-CFDE-F2C8024BBD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937518" y="2462979"/>
            <a:ext cx="2880856" cy="27432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51F165-3D44-7C87-E410-F700043E715B}"/>
              </a:ext>
            </a:extLst>
          </p:cNvPr>
          <p:cNvSpPr txBox="1"/>
          <p:nvPr/>
        </p:nvSpPr>
        <p:spPr>
          <a:xfrm>
            <a:off x="766370" y="2684206"/>
            <a:ext cx="7994172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Transformation Pipelines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IN" sz="1900" b="1" dirty="0"/>
              <a:t>Bronze -&gt; Silver: </a:t>
            </a:r>
            <a:r>
              <a:rPr lang="en-IN" sz="1900" dirty="0"/>
              <a:t>Comprehensive data cleaning, missing value handling, type conversions and normalization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900" b="1" dirty="0"/>
              <a:t>Silver -&gt; Gold: </a:t>
            </a:r>
            <a:r>
              <a:rPr lang="en-IN" sz="1900" dirty="0"/>
              <a:t>Advanced feature engineering, time-series aggregation(daily/weekly/monthly), lag features, moving averages and capacity metrics calculation.</a:t>
            </a:r>
          </a:p>
          <a:p>
            <a:pPr>
              <a:spcBef>
                <a:spcPts val="1200"/>
              </a:spcBef>
            </a:pPr>
            <a:r>
              <a:rPr lang="en-IN" sz="2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Databricks Delta Lake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IN" sz="1900" dirty="0"/>
              <a:t>Ensures ACID(Atomicity, Consistency, Isolation, Durability) transactions for reliable data operations.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900" dirty="0"/>
              <a:t>Provides an efficient storage format specifically optimized for machine learning workloads.</a:t>
            </a:r>
          </a:p>
          <a:p>
            <a:endParaRPr lang="en-IN" sz="1900" b="1" dirty="0"/>
          </a:p>
        </p:txBody>
      </p:sp>
    </p:spTree>
    <p:extLst>
      <p:ext uri="{BB962C8B-B14F-4D97-AF65-F5344CB8AC3E}">
        <p14:creationId xmlns:p14="http://schemas.microsoft.com/office/powerpoint/2010/main" val="2884141059"/>
      </p:ext>
    </p:extLst>
  </p:cSld>
  <p:clrMapOvr>
    <a:masterClrMapping/>
  </p:clrMapOvr>
  <p:transition advClick="0">
    <p:circl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9FBDF-A46F-E325-46F1-78B52D983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8899285" cy="1320800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Machine Learning: </a:t>
            </a:r>
            <a:r>
              <a:rPr lang="en-IN" sz="3000" dirty="0">
                <a:solidFill>
                  <a:srgbClr val="002060"/>
                </a:solidFill>
              </a:rPr>
              <a:t>Forecasting &amp;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071D3-986A-AD76-911B-196D4344F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307691"/>
            <a:ext cx="8596669" cy="520126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Azure Databricks powers the core forecasting engine by processing curated Gold-layer datasets and applying advanced machine-learning techniques for accurate, region-wise demand prediction.</a:t>
            </a:r>
          </a:p>
          <a:p>
            <a:pPr marL="0" indent="0">
              <a:buNone/>
            </a:pPr>
            <a:r>
              <a:rPr lang="en-IN" sz="2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 Development</a:t>
            </a:r>
          </a:p>
          <a:p>
            <a:pPr marL="0" indent="0">
              <a:buNone/>
            </a:pPr>
            <a:r>
              <a:rPr lang="en-IN" sz="1900" dirty="0"/>
              <a:t>     </a:t>
            </a:r>
            <a:r>
              <a:rPr lang="en-US" dirty="0"/>
              <a:t>We build and evaluate multiple forecasting models—including ARIMA, Prophet, XGBoost, and LSTM—using Databricks notebooks. Each model is trained on enriched demand data with lag features, moving averages, seasonal indicators, and macro-economic inputs from Snowflake and GCP.</a:t>
            </a:r>
          </a:p>
          <a:p>
            <a:pPr marL="0" indent="0">
              <a:buNone/>
            </a:pPr>
            <a:r>
              <a:rPr lang="en-IN" sz="2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Capacity Optimization</a:t>
            </a:r>
          </a:p>
          <a:p>
            <a:pPr marL="0" indent="0">
              <a:buNone/>
            </a:pPr>
            <a:r>
              <a:rPr lang="en-IN" sz="19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en-US" dirty="0"/>
              <a:t>Optimization logic is integrated directly within Databricks, using statistical trend analysis and rule-based allocation strategies to evaluate compute vs storage demand patterns and recommend optimal resource planning.</a:t>
            </a:r>
          </a:p>
          <a:p>
            <a:pPr marL="0" indent="0">
              <a:buNone/>
            </a:pPr>
            <a:r>
              <a:rPr lang="en-IN" sz="2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 Storage &amp; Deployment</a:t>
            </a:r>
          </a:p>
          <a:p>
            <a:pPr marL="0" indent="0">
              <a:buNone/>
            </a:pPr>
            <a:r>
              <a:rPr lang="en-IN" sz="1900" dirty="0"/>
              <a:t>  </a:t>
            </a:r>
            <a:r>
              <a:rPr lang="en-US" sz="1900" dirty="0"/>
              <a:t>All forecast outputs and model comparison results are written back to the Gold layer in Delta format, registered through </a:t>
            </a:r>
            <a:r>
              <a:rPr lang="en-US" sz="1900" dirty="0" err="1"/>
              <a:t>MLflow</a:t>
            </a:r>
            <a:r>
              <a:rPr lang="en-US" sz="1900" dirty="0"/>
              <a:t> for tracking, and consumed by Power BI dashboards for real-time analytics and decision support</a:t>
            </a: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3817484122"/>
      </p:ext>
    </p:extLst>
  </p:cSld>
  <p:clrMapOvr>
    <a:masterClrMapping/>
  </p:clrMapOvr>
  <p:transition>
    <p:circl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ACA9-F8BD-F946-9653-1D4026167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FF4F0-AB18-3725-78FE-FD74E1EE6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8899285" cy="1320800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Serving Layer: </a:t>
            </a:r>
            <a:r>
              <a:rPr lang="en-IN" sz="3000" dirty="0">
                <a:solidFill>
                  <a:srgbClr val="002060"/>
                </a:solidFill>
              </a:rPr>
              <a:t>Delivering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9D46D-C5CD-8350-9EFD-5E0E75DBC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307691"/>
            <a:ext cx="8596669" cy="5201264"/>
          </a:xfrm>
        </p:spPr>
        <p:txBody>
          <a:bodyPr>
            <a:normAutofit/>
          </a:bodyPr>
          <a:lstStyle/>
          <a:p>
            <a:r>
              <a:rPr lang="en-IN" sz="1900" dirty="0"/>
              <a:t>The serving layer ensures that the intelligence generated by our ML models is accessible and actionable through real-time APIs, interactive dashboards and conversational interfaces.</a:t>
            </a:r>
          </a:p>
          <a:p>
            <a:pPr marL="0" indent="0">
              <a:buNone/>
            </a:pPr>
            <a:r>
              <a:rPr lang="en-IN" sz="2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Real-Time Prediction APIs</a:t>
            </a:r>
          </a:p>
          <a:p>
            <a:pPr marL="0" indent="0">
              <a:buNone/>
            </a:pPr>
            <a:r>
              <a:rPr lang="en-IN" sz="1900" dirty="0"/>
              <a:t>     Deliver instant demand forecasts, capacity needs and the recommended actions to integrate systems.</a:t>
            </a:r>
          </a:p>
          <a:p>
            <a:pPr marL="0" indent="0">
              <a:buNone/>
            </a:pPr>
            <a:r>
              <a:rPr lang="en-IN" sz="2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PowerBI Dashboards</a:t>
            </a:r>
          </a:p>
          <a:p>
            <a:pPr marL="0" indent="0">
              <a:buNone/>
            </a:pPr>
            <a:r>
              <a:rPr lang="en-IN" sz="19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en-IN" sz="1900" dirty="0"/>
              <a:t>Interactive dashboards visualize forecast trends, capacity vs. demand, resource utilization and facilitation of what-if analysis.</a:t>
            </a:r>
          </a:p>
          <a:p>
            <a:pPr marL="0" indent="0">
              <a:buNone/>
            </a:pPr>
            <a:endParaRPr lang="en-IN" sz="1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0EDDD8-6D9B-09CC-2D76-E9F5CA2070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47" t="15031" r="27062" b="13781"/>
          <a:stretch>
            <a:fillRect/>
          </a:stretch>
        </p:blipFill>
        <p:spPr>
          <a:xfrm>
            <a:off x="4112803" y="2273837"/>
            <a:ext cx="380540" cy="548021"/>
          </a:xfrm>
          <a:prstGeom prst="flowChartAlternateProcess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680B3B-6518-30AD-2011-14DF6158E5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20" t="14142" r="20284" b="10486"/>
          <a:stretch>
            <a:fillRect/>
          </a:stretch>
        </p:blipFill>
        <p:spPr>
          <a:xfrm>
            <a:off x="3382297" y="3429000"/>
            <a:ext cx="390058" cy="508319"/>
          </a:xfrm>
          <a:prstGeom prst="flowChartAlternateProcess">
            <a:avLst/>
          </a:prstGeom>
        </p:spPr>
      </p:pic>
    </p:spTree>
    <p:extLst>
      <p:ext uri="{BB962C8B-B14F-4D97-AF65-F5344CB8AC3E}">
        <p14:creationId xmlns:p14="http://schemas.microsoft.com/office/powerpoint/2010/main" val="1782606533"/>
      </p:ext>
    </p:extLst>
  </p:cSld>
  <p:clrMapOvr>
    <a:masterClrMapping/>
  </p:clrMapOvr>
  <p:transition>
    <p:circl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E42585-AB1B-A3ED-CC02-269242D448F9}"/>
              </a:ext>
            </a:extLst>
          </p:cNvPr>
          <p:cNvSpPr txBox="1"/>
          <p:nvPr/>
        </p:nvSpPr>
        <p:spPr>
          <a:xfrm>
            <a:off x="2153264" y="530942"/>
            <a:ext cx="6872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01A5FF-7748-CD95-12E3-81EA1F8E3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044" y="1277122"/>
            <a:ext cx="8027078" cy="504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109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92D6E-E220-34E5-5720-1BBBBC510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C4BAF-F9D5-C2C2-AD10-E1B688629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8899285" cy="1320800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End-to-End Workflow Summary </a:t>
            </a:r>
            <a:br>
              <a:rPr lang="en-IN" dirty="0">
                <a:solidFill>
                  <a:srgbClr val="002060"/>
                </a:solidFill>
              </a:rPr>
            </a:br>
            <a:r>
              <a:rPr lang="en-IN" sz="2500" dirty="0">
                <a:solidFill>
                  <a:srgbClr val="002060"/>
                </a:solidFill>
              </a:rPr>
              <a:t>From Data to Decision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BF83F-4B4D-D966-DDE3-A45E37388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818967"/>
            <a:ext cx="8596669" cy="4689987"/>
          </a:xfrm>
        </p:spPr>
        <p:txBody>
          <a:bodyPr>
            <a:normAutofit/>
          </a:bodyPr>
          <a:lstStyle/>
          <a:p>
            <a:r>
              <a:rPr lang="en-IN" sz="1900" dirty="0"/>
              <a:t>This automated and robust pipeline ensures continuous data flow, processing and actionable insights, driving smarter business decisions.</a:t>
            </a:r>
          </a:p>
          <a:p>
            <a:endParaRPr lang="en-IN" sz="1900" dirty="0"/>
          </a:p>
          <a:p>
            <a:endParaRPr lang="en-IN" sz="1900" dirty="0"/>
          </a:p>
          <a:p>
            <a:endParaRPr lang="en-IN" sz="1900" dirty="0"/>
          </a:p>
          <a:p>
            <a:endParaRPr lang="en-IN" sz="1900" dirty="0"/>
          </a:p>
          <a:p>
            <a:endParaRPr lang="en-IN" sz="1900" dirty="0"/>
          </a:p>
          <a:p>
            <a:endParaRPr lang="en-IN" sz="1900" dirty="0"/>
          </a:p>
          <a:p>
            <a:endParaRPr lang="en-IN" sz="1900" dirty="0"/>
          </a:p>
          <a:p>
            <a:r>
              <a:rPr lang="en-IN" sz="1900" dirty="0"/>
              <a:t>The entire system operates on scheduled, automated pipelines by minimizing manual intervention and maximizing efficiency.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452247-3DC9-4A74-30AC-8926B6B185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743200"/>
            <a:ext cx="6489290" cy="245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929524"/>
      </p:ext>
    </p:extLst>
  </p:cSld>
  <p:clrMapOvr>
    <a:masterClrMapping/>
  </p:clrMapOvr>
  <p:transition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94D2F-0D4C-026A-1C9D-7BCAFB870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BDDDFAD-0486-CB8D-793A-7A08EBB88F33}"/>
              </a:ext>
            </a:extLst>
          </p:cNvPr>
          <p:cNvSpPr/>
          <p:nvPr/>
        </p:nvSpPr>
        <p:spPr>
          <a:xfrm>
            <a:off x="1071716" y="1779639"/>
            <a:ext cx="8318090" cy="457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7D1200-52AA-60A0-ECF4-9D8280ADE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8899285" cy="1320800"/>
          </a:xfrm>
        </p:spPr>
        <p:txBody>
          <a:bodyPr>
            <a:normAutofit fontScale="90000"/>
          </a:bodyPr>
          <a:lstStyle/>
          <a:p>
            <a:r>
              <a:rPr lang="en-IN" sz="2500" dirty="0">
                <a:solidFill>
                  <a:srgbClr val="002060"/>
                </a:solidFill>
              </a:rPr>
              <a:t>Key Benefits</a:t>
            </a:r>
            <a:br>
              <a:rPr lang="en-IN" sz="2500" dirty="0">
                <a:solidFill>
                  <a:srgbClr val="002060"/>
                </a:solidFill>
              </a:rPr>
            </a:br>
            <a:r>
              <a:rPr lang="en-IN" dirty="0">
                <a:solidFill>
                  <a:srgbClr val="002060"/>
                </a:solidFill>
              </a:rPr>
              <a:t>Transforming Operations with Predictive Power</a:t>
            </a:r>
            <a:endParaRPr lang="en-IN" sz="2500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E2E41-A953-55FB-DBF1-DEF512C63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2491" y="2104103"/>
            <a:ext cx="7661512" cy="440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Enhanced Accuracy</a:t>
            </a:r>
          </a:p>
          <a:p>
            <a:pPr marL="0" indent="0">
              <a:buNone/>
            </a:pPr>
            <a:r>
              <a:rPr lang="en-IN" sz="1900" dirty="0"/>
              <a:t>     Leverage advanced ML models for highly accurate demand forecasts.</a:t>
            </a:r>
          </a:p>
          <a:p>
            <a:pPr marL="0" indent="0">
              <a:buNone/>
            </a:pPr>
            <a:r>
              <a:rPr lang="en-I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Optimized Capacity</a:t>
            </a:r>
          </a:p>
          <a:p>
            <a:pPr marL="0" indent="0">
              <a:buNone/>
            </a:pPr>
            <a:r>
              <a:rPr lang="en-IN" sz="19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en-IN" sz="1900" dirty="0"/>
              <a:t>Proactively manage resources and prevent bottlenecks</a:t>
            </a:r>
          </a:p>
          <a:p>
            <a:pPr marL="0" indent="0">
              <a:buNone/>
            </a:pPr>
            <a:r>
              <a:rPr lang="en-I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Cost Reduction</a:t>
            </a:r>
          </a:p>
          <a:p>
            <a:pPr marL="0" indent="0">
              <a:buNone/>
            </a:pPr>
            <a:r>
              <a:rPr lang="en-IN" sz="1900" dirty="0"/>
              <a:t>     Minimize waste and over-provisioning through precise planning.</a:t>
            </a:r>
          </a:p>
          <a:p>
            <a:pPr marL="0" indent="0">
              <a:buNone/>
            </a:pPr>
            <a:r>
              <a:rPr lang="en-I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Agile Decision-Making</a:t>
            </a:r>
            <a:endParaRPr lang="en-IN" sz="1900" dirty="0"/>
          </a:p>
          <a:p>
            <a:pPr marL="0" indent="0">
              <a:buNone/>
            </a:pPr>
            <a:r>
              <a:rPr lang="en-IN" sz="1900" dirty="0"/>
              <a:t>     Gain real-time insights for responsive operational adjustments.</a:t>
            </a:r>
          </a:p>
        </p:txBody>
      </p:sp>
    </p:spTree>
    <p:extLst>
      <p:ext uri="{BB962C8B-B14F-4D97-AF65-F5344CB8AC3E}">
        <p14:creationId xmlns:p14="http://schemas.microsoft.com/office/powerpoint/2010/main" val="1779658561"/>
      </p:ext>
    </p:extLst>
  </p:cSld>
  <p:clrMapOvr>
    <a:masterClrMapping/>
  </p:clrMapOvr>
  <p:transition advClick="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1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1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1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1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1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1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1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294</TotalTime>
  <Words>1101</Words>
  <Application>Microsoft Office PowerPoint</Application>
  <PresentationFormat>Widescreen</PresentationFormat>
  <Paragraphs>94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Times New Roman</vt:lpstr>
      <vt:lpstr>Trebuchet MS</vt:lpstr>
      <vt:lpstr>Wingdings</vt:lpstr>
      <vt:lpstr>Wingdings 3</vt:lpstr>
      <vt:lpstr>Facet</vt:lpstr>
      <vt:lpstr>Azure-Based Demand Forecasting &amp; Capacity Optimization System</vt:lpstr>
      <vt:lpstr>Diverse Data Sources</vt:lpstr>
      <vt:lpstr>Efficient Data Ingestion</vt:lpstr>
      <vt:lpstr>Efficient Data Ingestion</vt:lpstr>
      <vt:lpstr>Azure Data Lake Storage</vt:lpstr>
      <vt:lpstr>Azure Data Lake Storage</vt:lpstr>
      <vt:lpstr>Azure Data Lake Storage</vt:lpstr>
      <vt:lpstr>Azure Data Lake Storage</vt:lpstr>
      <vt:lpstr>Intelligent Data Processing</vt:lpstr>
      <vt:lpstr>Machine Learning: Forecasting &amp; Optimization</vt:lpstr>
      <vt:lpstr>Serving Layer: Delivering Insights</vt:lpstr>
      <vt:lpstr>PowerPoint Presentation</vt:lpstr>
      <vt:lpstr>End-to-End Workflow Summary  From Data to Decision</vt:lpstr>
      <vt:lpstr>Key Benefits Transforming Operations with Predictive Power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Chetan Konduru</dc:creator>
  <cp:lastModifiedBy>Satya sri velpuri</cp:lastModifiedBy>
  <cp:revision>3</cp:revision>
  <dcterms:created xsi:type="dcterms:W3CDTF">2025-11-14T13:47:31Z</dcterms:created>
  <dcterms:modified xsi:type="dcterms:W3CDTF">2025-11-25T05:35:00Z</dcterms:modified>
</cp:coreProperties>
</file>